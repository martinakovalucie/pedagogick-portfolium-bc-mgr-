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2160250" cy="6840538"/>
  <p:notesSz cx="6858000" cy="9144000"/>
  <p:defaultTextStyle>
    <a:defPPr>
      <a:defRPr lang="cs-CZ"/>
    </a:defPPr>
    <a:lvl1pPr marL="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1pPr>
    <a:lvl2pPr marL="452537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2pPr>
    <a:lvl3pPr marL="90507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3pPr>
    <a:lvl4pPr marL="1357610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4pPr>
    <a:lvl5pPr marL="181014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5pPr>
    <a:lvl6pPr marL="2262683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6pPr>
    <a:lvl7pPr marL="2715219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7pPr>
    <a:lvl8pPr marL="3167756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8pPr>
    <a:lvl9pPr marL="3620292" algn="l" defTabSz="905073" rtl="0" eaLnBrk="1" latinLnBrk="0" hangingPunct="1">
      <a:defRPr sz="178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4">
          <p15:clr>
            <a:srgbClr val="A4A3A4"/>
          </p15:clr>
        </p15:guide>
        <p15:guide id="2" pos="383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19" y="67"/>
      </p:cViewPr>
      <p:guideLst>
        <p:guide orient="horz" pos="2154"/>
        <p:guide pos="383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DC1901-92BB-4FDD-BA03-8B5D36861ACA}" type="datetimeFigureOut">
              <a:rPr lang="cs-CZ" smtClean="0"/>
              <a:t>20.11.2025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EE4EC-FC1D-4A5C-A5BA-DA124659C1D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03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8EE4EC-FC1D-4A5C-A5BA-DA124659C1D1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7231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9305" y="6450675"/>
            <a:ext cx="9242264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Obrázek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200" y="2898000"/>
            <a:ext cx="3341877" cy="103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70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870" y="1980001"/>
            <a:ext cx="10215134" cy="1612866"/>
          </a:xfrm>
        </p:spPr>
        <p:txBody>
          <a:bodyPr anchor="t">
            <a:normAutofit/>
          </a:bodyPr>
          <a:lstStyle>
            <a:lvl1pPr algn="l">
              <a:defRPr sz="3513"/>
            </a:lvl1pPr>
          </a:lstStyle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2870" y="3592866"/>
            <a:ext cx="10215134" cy="1552712"/>
          </a:xfrm>
        </p:spPr>
        <p:txBody>
          <a:bodyPr/>
          <a:lstStyle>
            <a:lvl1pPr marL="0" indent="0" algn="l">
              <a:buNone/>
              <a:defRPr sz="3192">
                <a:solidFill>
                  <a:schemeClr val="accent2"/>
                </a:solidFill>
              </a:defRPr>
            </a:lvl1pPr>
            <a:lvl2pPr marL="608008" indent="0" algn="ctr">
              <a:buNone/>
              <a:defRPr sz="2659"/>
            </a:lvl2pPr>
            <a:lvl3pPr marL="1216015" indent="0" algn="ctr">
              <a:buNone/>
              <a:defRPr sz="2394"/>
            </a:lvl3pPr>
            <a:lvl4pPr marL="1824024" indent="0" algn="ctr">
              <a:buNone/>
              <a:defRPr sz="2128"/>
            </a:lvl4pPr>
            <a:lvl5pPr marL="2432032" indent="0" algn="ctr">
              <a:buNone/>
              <a:defRPr sz="2128"/>
            </a:lvl5pPr>
            <a:lvl6pPr marL="3040039" indent="0" algn="ctr">
              <a:buNone/>
              <a:defRPr sz="2128"/>
            </a:lvl6pPr>
            <a:lvl7pPr marL="3648047" indent="0" algn="ctr">
              <a:buNone/>
              <a:defRPr sz="2128"/>
            </a:lvl7pPr>
            <a:lvl8pPr marL="4256056" indent="0" algn="ctr">
              <a:buNone/>
              <a:defRPr sz="2128"/>
            </a:lvl8pPr>
            <a:lvl9pPr marL="4864063" indent="0" algn="ctr">
              <a:buNone/>
              <a:defRPr sz="2128"/>
            </a:lvl9pPr>
          </a:lstStyle>
          <a:p>
            <a:r>
              <a:rPr lang="cs-CZ" dirty="0"/>
              <a:t>Kliknutím lze upravit styl předlohy.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5172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2870" y="4380949"/>
            <a:ext cx="10215134" cy="982528"/>
          </a:xfrm>
        </p:spPr>
        <p:txBody>
          <a:bodyPr anchor="t">
            <a:normAutofit/>
          </a:bodyPr>
          <a:lstStyle>
            <a:lvl1pPr algn="ctr">
              <a:defRPr sz="3513"/>
            </a:lvl1pPr>
          </a:lstStyle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2870" y="5363480"/>
            <a:ext cx="10215134" cy="945883"/>
          </a:xfrm>
        </p:spPr>
        <p:txBody>
          <a:bodyPr/>
          <a:lstStyle>
            <a:lvl1pPr marL="0" indent="0" algn="ctr">
              <a:buNone/>
              <a:defRPr sz="3192">
                <a:solidFill>
                  <a:schemeClr val="accent2"/>
                </a:solidFill>
              </a:defRPr>
            </a:lvl1pPr>
            <a:lvl2pPr marL="608008" indent="0" algn="ctr">
              <a:buNone/>
              <a:defRPr sz="2659"/>
            </a:lvl2pPr>
            <a:lvl3pPr marL="1216015" indent="0" algn="ctr">
              <a:buNone/>
              <a:defRPr sz="2394"/>
            </a:lvl3pPr>
            <a:lvl4pPr marL="1824024" indent="0" algn="ctr">
              <a:buNone/>
              <a:defRPr sz="2128"/>
            </a:lvl4pPr>
            <a:lvl5pPr marL="2432032" indent="0" algn="ctr">
              <a:buNone/>
              <a:defRPr sz="2128"/>
            </a:lvl5pPr>
            <a:lvl6pPr marL="3040039" indent="0" algn="ctr">
              <a:buNone/>
              <a:defRPr sz="2128"/>
            </a:lvl6pPr>
            <a:lvl7pPr marL="3648047" indent="0" algn="ctr">
              <a:buNone/>
              <a:defRPr sz="2128"/>
            </a:lvl7pPr>
            <a:lvl8pPr marL="4256056" indent="0" algn="ctr">
              <a:buNone/>
              <a:defRPr sz="2128"/>
            </a:lvl8pPr>
            <a:lvl9pPr marL="4864063" indent="0" algn="ctr">
              <a:buNone/>
              <a:defRPr sz="2128"/>
            </a:lvl9pPr>
          </a:lstStyle>
          <a:p>
            <a:r>
              <a:rPr lang="cs-CZ" dirty="0"/>
              <a:t>Kliknutím lze upravit styl předlohy.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9305" y="6450675"/>
            <a:ext cx="9242264" cy="216000"/>
          </a:xfrm>
        </p:spPr>
        <p:txBody>
          <a:bodyPr/>
          <a:lstStyle/>
          <a:p>
            <a:pPr algn="ctr"/>
            <a:r>
              <a:rPr lang="cs-CZ" dirty="0"/>
              <a:t>autor prezentace, datum prezentace, univerzitní oddělení, fakulta, adresa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947" y="1260000"/>
            <a:ext cx="2202979" cy="182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240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5349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2870" y="2462400"/>
            <a:ext cx="4895025" cy="3898800"/>
          </a:xfrm>
        </p:spPr>
        <p:txBody>
          <a:bodyPr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2979" y="2462400"/>
            <a:ext cx="4895025" cy="389880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2382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870" y="1620000"/>
            <a:ext cx="10215134" cy="748800"/>
          </a:xfrm>
        </p:spPr>
        <p:txBody>
          <a:bodyPr/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870" y="2368800"/>
            <a:ext cx="4893536" cy="693376"/>
          </a:xfrm>
        </p:spPr>
        <p:txBody>
          <a:bodyPr anchor="b"/>
          <a:lstStyle>
            <a:lvl1pPr marL="0" indent="0">
              <a:buNone/>
              <a:defRPr sz="3192" b="1"/>
            </a:lvl1pPr>
            <a:lvl2pPr marL="608008" indent="0">
              <a:buNone/>
              <a:defRPr sz="2659" b="1"/>
            </a:lvl2pPr>
            <a:lvl3pPr marL="1216015" indent="0">
              <a:buNone/>
              <a:defRPr sz="2394" b="1"/>
            </a:lvl3pPr>
            <a:lvl4pPr marL="1824024" indent="0">
              <a:buNone/>
              <a:defRPr sz="2128" b="1"/>
            </a:lvl4pPr>
            <a:lvl5pPr marL="2432032" indent="0">
              <a:buNone/>
              <a:defRPr sz="2128" b="1"/>
            </a:lvl5pPr>
            <a:lvl6pPr marL="3040039" indent="0">
              <a:buNone/>
              <a:defRPr sz="2128" b="1"/>
            </a:lvl6pPr>
            <a:lvl7pPr marL="3648047" indent="0">
              <a:buNone/>
              <a:defRPr sz="2128" b="1"/>
            </a:lvl7pPr>
            <a:lvl8pPr marL="4256056" indent="0">
              <a:buNone/>
              <a:defRPr sz="2128" b="1"/>
            </a:lvl8pPr>
            <a:lvl9pPr marL="4864063" indent="0">
              <a:buNone/>
              <a:defRPr sz="2128" b="1"/>
            </a:lvl9pPr>
          </a:lstStyle>
          <a:p>
            <a:pPr lvl="0"/>
            <a:r>
              <a:rPr lang="cs-CZ" dirty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2870" y="3151650"/>
            <a:ext cx="4893536" cy="3209550"/>
          </a:xfrm>
        </p:spPr>
        <p:txBody>
          <a:bodyPr/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468" y="2368800"/>
            <a:ext cx="4893536" cy="693376"/>
          </a:xfrm>
        </p:spPr>
        <p:txBody>
          <a:bodyPr anchor="b"/>
          <a:lstStyle>
            <a:lvl1pPr marL="0" indent="0">
              <a:buNone/>
              <a:defRPr sz="3192" b="1"/>
            </a:lvl1pPr>
            <a:lvl2pPr marL="608008" indent="0">
              <a:buNone/>
              <a:defRPr sz="2659" b="1"/>
            </a:lvl2pPr>
            <a:lvl3pPr marL="1216015" indent="0">
              <a:buNone/>
              <a:defRPr sz="2394" b="1"/>
            </a:lvl3pPr>
            <a:lvl4pPr marL="1824024" indent="0">
              <a:buNone/>
              <a:defRPr sz="2128" b="1"/>
            </a:lvl4pPr>
            <a:lvl5pPr marL="2432032" indent="0">
              <a:buNone/>
              <a:defRPr sz="2128" b="1"/>
            </a:lvl5pPr>
            <a:lvl6pPr marL="3040039" indent="0">
              <a:buNone/>
              <a:defRPr sz="2128" b="1"/>
            </a:lvl6pPr>
            <a:lvl7pPr marL="3648047" indent="0">
              <a:buNone/>
              <a:defRPr sz="2128" b="1"/>
            </a:lvl7pPr>
            <a:lvl8pPr marL="4256056" indent="0">
              <a:buNone/>
              <a:defRPr sz="2128" b="1"/>
            </a:lvl8pPr>
            <a:lvl9pPr marL="4864063" indent="0">
              <a:buNone/>
              <a:defRPr sz="2128" b="1"/>
            </a:lvl9pPr>
          </a:lstStyle>
          <a:p>
            <a:pPr lvl="0"/>
            <a:r>
              <a:rPr lang="cs-CZ" dirty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468" y="3151650"/>
            <a:ext cx="4893536" cy="3209550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11271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7247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81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870" y="1620000"/>
            <a:ext cx="4059167" cy="748800"/>
          </a:xfrm>
        </p:spPr>
        <p:txBody>
          <a:bodyPr anchor="b">
            <a:normAutofit/>
          </a:bodyPr>
          <a:lstStyle>
            <a:lvl1pPr>
              <a:defRPr sz="3513"/>
            </a:lvl1pPr>
          </a:lstStyle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69690" y="1620000"/>
            <a:ext cx="6018314" cy="4733283"/>
          </a:xfrm>
        </p:spPr>
        <p:txBody>
          <a:bodyPr>
            <a:normAutofit/>
          </a:bodyPr>
          <a:lstStyle>
            <a:lvl1pPr>
              <a:defRPr sz="3243"/>
            </a:lvl1pPr>
            <a:lvl2pPr>
              <a:defRPr sz="2702"/>
            </a:lvl2pPr>
            <a:lvl3pPr>
              <a:defRPr sz="2432"/>
            </a:lvl3pPr>
            <a:lvl4pPr>
              <a:defRPr sz="2162"/>
            </a:lvl4pPr>
            <a:lvl5pPr>
              <a:defRPr sz="2162"/>
            </a:lvl5pPr>
            <a:lvl6pPr>
              <a:defRPr sz="2659"/>
            </a:lvl6pPr>
            <a:lvl7pPr>
              <a:defRPr sz="2659"/>
            </a:lvl7pPr>
            <a:lvl8pPr>
              <a:defRPr sz="2659"/>
            </a:lvl8pPr>
            <a:lvl9pPr>
              <a:defRPr sz="2659"/>
            </a:lvl9pPr>
          </a:lstStyle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2870" y="2458274"/>
            <a:ext cx="4059167" cy="3902926"/>
          </a:xfrm>
        </p:spPr>
        <p:txBody>
          <a:bodyPr/>
          <a:lstStyle>
            <a:lvl1pPr marL="0" indent="0">
              <a:buNone/>
              <a:defRPr sz="2128"/>
            </a:lvl1pPr>
            <a:lvl2pPr marL="608008" indent="0">
              <a:buNone/>
              <a:defRPr sz="1862"/>
            </a:lvl2pPr>
            <a:lvl3pPr marL="1216015" indent="0">
              <a:buNone/>
              <a:defRPr sz="1596"/>
            </a:lvl3pPr>
            <a:lvl4pPr marL="1824024" indent="0">
              <a:buNone/>
              <a:defRPr sz="1330"/>
            </a:lvl4pPr>
            <a:lvl5pPr marL="2432032" indent="0">
              <a:buNone/>
              <a:defRPr sz="1330"/>
            </a:lvl5pPr>
            <a:lvl6pPr marL="3040039" indent="0">
              <a:buNone/>
              <a:defRPr sz="1330"/>
            </a:lvl6pPr>
            <a:lvl7pPr marL="3648047" indent="0">
              <a:buNone/>
              <a:defRPr sz="1330"/>
            </a:lvl7pPr>
            <a:lvl8pPr marL="4256056" indent="0">
              <a:buNone/>
              <a:defRPr sz="1330"/>
            </a:lvl8pPr>
            <a:lvl9pPr marL="4864063" indent="0">
              <a:buNone/>
              <a:defRPr sz="1330"/>
            </a:lvl9pPr>
          </a:lstStyle>
          <a:p>
            <a:pPr lvl="0"/>
            <a:r>
              <a:rPr lang="cs-CZ" dirty="0"/>
              <a:t>Kliknutím lze upravit styly předlohy textu.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/>
              <a:t>autor prezentace, datum prezentace, univerzitní oddělení, fakulta, adresa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B6205-E093-439F-9685-8F7A4FC3F4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28856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2870" y="1620000"/>
            <a:ext cx="10215134" cy="74808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cs-CZ" dirty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870" y="2460570"/>
            <a:ext cx="10215134" cy="389866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Kliknutím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2870" y="6450675"/>
            <a:ext cx="9619119" cy="216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35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cs-CZ"/>
              <a:t>autor prezentace, datum prezentace, univerzitní oddělení, fakulta, adresa</a:t>
            </a:r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60473" y="6450675"/>
            <a:ext cx="427532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35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03B6205-E093-439F-9685-8F7A4FC3F425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0" name="Obrázek 9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872" y="540003"/>
            <a:ext cx="2560443" cy="71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032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3" r:id="rId2"/>
    <p:sldLayoutId id="2147483685" r:id="rId3"/>
    <p:sldLayoutId id="2147483674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dt="0"/>
  <p:txStyles>
    <p:titleStyle>
      <a:lvl1pPr algn="l" defTabSz="1216015" rtl="0" eaLnBrk="1" latinLnBrk="0" hangingPunct="1">
        <a:lnSpc>
          <a:spcPct val="100000"/>
        </a:lnSpc>
        <a:spcBef>
          <a:spcPct val="0"/>
        </a:spcBef>
        <a:buNone/>
        <a:defRPr sz="3513" b="1" kern="120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60365" indent="-360365" algn="l" defTabSz="1216015" rtl="0" eaLnBrk="1" latinLnBrk="0" hangingPunct="1">
        <a:lnSpc>
          <a:spcPct val="100000"/>
        </a:lnSpc>
        <a:spcBef>
          <a:spcPts val="1330"/>
        </a:spcBef>
        <a:buFont typeface="Arial" panose="020B0604020202020204" pitchFamily="34" charset="0"/>
        <a:buChar char="−"/>
        <a:defRPr sz="2702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29310" indent="-368945" algn="l" defTabSz="1216015" rtl="0" eaLnBrk="1" latinLnBrk="0" hangingPunct="1">
        <a:lnSpc>
          <a:spcPct val="100000"/>
        </a:lnSpc>
        <a:spcBef>
          <a:spcPts val="665"/>
        </a:spcBef>
        <a:buFont typeface="Arial" panose="020B0604020202020204" pitchFamily="34" charset="0"/>
        <a:buChar char="−"/>
        <a:defRPr sz="2432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089675" indent="-360365" algn="l" defTabSz="1216015" rtl="0" eaLnBrk="1" latinLnBrk="0" hangingPunct="1">
        <a:lnSpc>
          <a:spcPct val="100000"/>
        </a:lnSpc>
        <a:spcBef>
          <a:spcPts val="665"/>
        </a:spcBef>
        <a:buFont typeface="Arial" panose="020B0604020202020204" pitchFamily="34" charset="0"/>
        <a:buChar char="−"/>
        <a:defRPr sz="2162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447896" indent="-358221" algn="l" defTabSz="1216015" rtl="0" eaLnBrk="1" latinLnBrk="0" hangingPunct="1">
        <a:lnSpc>
          <a:spcPct val="100000"/>
        </a:lnSpc>
        <a:spcBef>
          <a:spcPts val="665"/>
        </a:spcBef>
        <a:buFont typeface="Arial" panose="020B0604020202020204" pitchFamily="34" charset="0"/>
        <a:buChar char="−"/>
        <a:defRPr sz="1892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18985" indent="-371091" algn="l" defTabSz="1216015" rtl="0" eaLnBrk="1" latinLnBrk="0" hangingPunct="1">
        <a:lnSpc>
          <a:spcPct val="100000"/>
        </a:lnSpc>
        <a:spcBef>
          <a:spcPts val="665"/>
        </a:spcBef>
        <a:buFont typeface="Arial" panose="020B0604020202020204" pitchFamily="34" charset="0"/>
        <a:buChar char="−"/>
        <a:defRPr sz="1892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44043" indent="-304004" algn="l" defTabSz="121601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952052" indent="-304004" algn="l" defTabSz="121601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560059" indent="-304004" algn="l" defTabSz="121601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5168067" indent="-304004" algn="l" defTabSz="1216015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1pPr>
      <a:lvl2pPr marL="608008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1216015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3pPr>
      <a:lvl4pPr marL="1824024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4pPr>
      <a:lvl5pPr marL="2432032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5pPr>
      <a:lvl6pPr marL="3040039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6pPr>
      <a:lvl7pPr marL="3648047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7pPr>
      <a:lvl8pPr marL="4256056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8pPr>
      <a:lvl9pPr marL="4864063" algn="l" defTabSz="1216015" rtl="0" eaLnBrk="1" latinLnBrk="0" hangingPunct="1">
        <a:defRPr sz="23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scratch.mit.edu/projects/1242263240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N8pp8rL-oWk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 dirty="0"/>
              <a:t>Lucie Martináková, 19.11.2025, Univerzita Palackého v Olomouci, Pedagogická fakulta, Křížkovského 511/8 Olomouc</a:t>
            </a:r>
          </a:p>
        </p:txBody>
      </p:sp>
    </p:spTree>
    <p:extLst>
      <p:ext uri="{BB962C8B-B14F-4D97-AF65-F5344CB8AC3E}">
        <p14:creationId xmlns:p14="http://schemas.microsoft.com/office/powerpoint/2010/main" val="142453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 err="1"/>
              <a:t>Polybiův</a:t>
            </a:r>
            <a:r>
              <a:rPr lang="cs-CZ" dirty="0"/>
              <a:t> čtverec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5">
            <a:extLst>
              <a:ext uri="{FF2B5EF4-FFF2-40B4-BE49-F238E27FC236}">
                <a16:creationId xmlns:a16="http://schemas.microsoft.com/office/drawing/2014/main" id="{0567E600-1F12-8EFD-509D-B3D048C2C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305" y="6450675"/>
            <a:ext cx="9242264" cy="216000"/>
          </a:xfrm>
        </p:spPr>
        <p:txBody>
          <a:bodyPr/>
          <a:lstStyle/>
          <a:p>
            <a:pPr algn="ctr"/>
            <a:r>
              <a:rPr lang="cs-CZ" dirty="0"/>
              <a:t>Lucie Martináková, 19.11.2025, Univerzita Palackého v Olomouci, Pedagogická fakulta, Křížkovského 511/8 Olomouc</a:t>
            </a:r>
          </a:p>
        </p:txBody>
      </p:sp>
    </p:spTree>
    <p:extLst>
      <p:ext uri="{BB962C8B-B14F-4D97-AF65-F5344CB8AC3E}">
        <p14:creationId xmlns:p14="http://schemas.microsoft.com/office/powerpoint/2010/main" val="287411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Polybiův</a:t>
            </a:r>
            <a:r>
              <a:rPr dirty="0"/>
              <a:t> </a:t>
            </a:r>
            <a:r>
              <a:rPr dirty="0" err="1"/>
              <a:t>čtverec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Jednoduchá šifrovací metoda, která převádí písmena na dvojici čísel (souřadnice) pomocí tabulky 5x5</a:t>
            </a:r>
          </a:p>
          <a:p>
            <a:r>
              <a:rPr lang="cs-CZ" dirty="0"/>
              <a:t>Používal se už ve starověku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BF3B8-1101-2589-2168-433B28AB0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0DB0D-0743-6A0D-4D42-1CB361D0B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</a:t>
            </a:r>
            <a:r>
              <a:rPr lang="cs-CZ" dirty="0" err="1"/>
              <a:t>Polybiův</a:t>
            </a:r>
            <a:r>
              <a:rPr lang="cs-CZ" dirty="0"/>
              <a:t> čtverec rozvíjí u žáků?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575322-604B-3EEE-010D-ADF681ADE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Algoritmické myšlení</a:t>
            </a:r>
          </a:p>
          <a:p>
            <a:r>
              <a:rPr lang="cs-CZ" dirty="0"/>
              <a:t>Orientaci v souřadnicovém systému</a:t>
            </a:r>
          </a:p>
          <a:p>
            <a:r>
              <a:rPr lang="cs-CZ" dirty="0"/>
              <a:t>Kódování a dekódování informací</a:t>
            </a:r>
          </a:p>
          <a:p>
            <a:r>
              <a:rPr lang="cs-CZ" dirty="0"/>
              <a:t>Logické uvažování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63110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DD6A6-B5DE-1443-A6C1-1CDEE36D5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A63B1-3333-DEEA-6109-770B8ED2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Cíle vytvořené hry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4236C-A1E2-AAD1-9865-F49663237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Připravit interaktivní, zábavnou a vizuální formu šifrování</a:t>
            </a:r>
          </a:p>
          <a:p>
            <a:r>
              <a:rPr lang="cs-CZ" dirty="0"/>
              <a:t>Umožnit, aby si žáci procvičili souřadnice</a:t>
            </a:r>
          </a:p>
          <a:p>
            <a:r>
              <a:rPr lang="cs-CZ" dirty="0"/>
              <a:t>Ukázat propojení informatiky a algoritmizace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0682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55B2C-7DD2-D617-60DD-07D18B63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A4631-FA36-0382-D0B2-45C882482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Polybiův</a:t>
            </a:r>
            <a:r>
              <a:rPr lang="cs-CZ" dirty="0"/>
              <a:t> čtverec - </a:t>
            </a:r>
            <a:r>
              <a:rPr lang="cs-CZ" dirty="0" err="1"/>
              <a:t>Scratch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F6CB-620D-5DC6-2E86-543A54B31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https://scratch.mit.edu/projects/1242263240</a:t>
            </a:r>
            <a:endParaRPr lang="cs-CZ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5307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FFE51F-BC8F-D8C5-E406-2912B71D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645CA-6812-80E6-269D-7E8A5DB2B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Polybiův</a:t>
            </a:r>
            <a:r>
              <a:rPr lang="cs-CZ" dirty="0"/>
              <a:t> čtverec – </a:t>
            </a:r>
            <a:r>
              <a:rPr lang="cs-CZ" dirty="0" err="1"/>
              <a:t>Scratch</a:t>
            </a:r>
            <a:r>
              <a:rPr lang="cs-CZ" dirty="0"/>
              <a:t> použité bloky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585B9-D652-254A-EF8B-5872E313DE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Zprávy</a:t>
            </a:r>
          </a:p>
          <a:p>
            <a:r>
              <a:rPr lang="cs-CZ" dirty="0"/>
              <a:t>Proměnné</a:t>
            </a:r>
          </a:p>
          <a:p>
            <a:r>
              <a:rPr lang="cs-CZ" dirty="0"/>
              <a:t>Podmínky</a:t>
            </a:r>
          </a:p>
          <a:p>
            <a:r>
              <a:rPr lang="cs-CZ" dirty="0"/>
              <a:t>Změna kostýmu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23472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3B79-D431-3796-D3EC-6365CCB8E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BABA4-77D1-FE1C-2A3A-7E19A115B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Polybiův</a:t>
            </a:r>
            <a:r>
              <a:rPr lang="cs-CZ" dirty="0"/>
              <a:t> čtverec - Python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31BD-5E3D-290F-9699-3C53F7919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https://youtu.be/N8pp8rL-oWk</a:t>
            </a:r>
            <a:endParaRPr lang="cs-CZ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023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DCF61-9265-EF92-AB63-E58C275F2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202B6-2AAD-CF08-6B23-7C48E721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/>
              <a:t>Polybiův</a:t>
            </a:r>
            <a:r>
              <a:rPr lang="cs-CZ" dirty="0"/>
              <a:t> čtverec - Python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84B5A-9F02-156B-BF5A-7C5404AF8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Knihovny</a:t>
            </a:r>
          </a:p>
          <a:p>
            <a:pPr lvl="1"/>
            <a:r>
              <a:rPr lang="cs-CZ" dirty="0" err="1"/>
              <a:t>Tkinter</a:t>
            </a:r>
            <a:endParaRPr lang="cs-CZ" dirty="0"/>
          </a:p>
          <a:p>
            <a:pPr lvl="1"/>
            <a:r>
              <a:rPr lang="cs-CZ" dirty="0"/>
              <a:t>PIL</a:t>
            </a:r>
          </a:p>
          <a:p>
            <a:pPr lvl="1"/>
            <a:r>
              <a:rPr lang="cs-CZ" dirty="0" err="1"/>
              <a:t>Random</a:t>
            </a:r>
            <a:endParaRPr lang="cs-CZ" dirty="0"/>
          </a:p>
          <a:p>
            <a:r>
              <a:rPr lang="cs-CZ" dirty="0"/>
              <a:t>Datová část (šifra)</a:t>
            </a:r>
          </a:p>
          <a:p>
            <a:pPr lvl="1"/>
            <a:r>
              <a:rPr lang="cs-CZ" dirty="0"/>
              <a:t>Seznam písmen v </a:t>
            </a:r>
            <a:r>
              <a:rPr lang="cs-CZ" dirty="0" err="1"/>
              <a:t>Polybiově</a:t>
            </a:r>
            <a:r>
              <a:rPr lang="cs-CZ" dirty="0"/>
              <a:t> čtverci 5x5</a:t>
            </a:r>
          </a:p>
          <a:p>
            <a:pPr lvl="1"/>
            <a:r>
              <a:rPr lang="cs-CZ" dirty="0"/>
              <a:t>Převod české diakritiky na písmena bez háčků a čárek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99531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47709-E95A-C2E2-3594-E2D1C0FF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0630-D71B-4077-CCE1-267669062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Závěr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17CC5-BDF0-AA0E-9080-121EFF8228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Zábavné šifrování</a:t>
            </a:r>
          </a:p>
          <a:p>
            <a:r>
              <a:rPr lang="cs-CZ" dirty="0"/>
              <a:t>Pomáhá žákům rozvíjet orientaci v souřadnicích a algoritmické myšlení</a:t>
            </a:r>
          </a:p>
          <a:p>
            <a:r>
              <a:rPr lang="cs-CZ" dirty="0"/>
              <a:t>Původní hra ve </a:t>
            </a:r>
            <a:r>
              <a:rPr lang="cs-CZ" dirty="0" err="1"/>
              <a:t>Scratchi</a:t>
            </a:r>
            <a:r>
              <a:rPr lang="cs-CZ" dirty="0"/>
              <a:t> byla úspěšně upravena s využitím AI na hru v Pythonu, kde:</a:t>
            </a:r>
          </a:p>
          <a:p>
            <a:pPr lvl="1"/>
            <a:r>
              <a:rPr lang="cs-CZ" dirty="0"/>
              <a:t>Funguje škálování pro různé velikosti obrazovek</a:t>
            </a:r>
          </a:p>
          <a:p>
            <a:pPr lvl="1"/>
            <a:r>
              <a:rPr lang="cs-CZ" dirty="0"/>
              <a:t>Využívá obrázky, mřížky a pochodně jako ve </a:t>
            </a:r>
            <a:r>
              <a:rPr lang="cs-CZ" dirty="0" err="1"/>
              <a:t>Scratchi</a:t>
            </a:r>
            <a:endParaRPr lang="cs-CZ" dirty="0"/>
          </a:p>
          <a:p>
            <a:pPr lvl="1"/>
            <a:r>
              <a:rPr lang="cs-CZ" dirty="0"/>
              <a:t>Generuje náhodná slova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8318211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U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6BAB"/>
      </a:accent1>
      <a:accent2>
        <a:srgbClr val="6C6D70"/>
      </a:accent2>
      <a:accent3>
        <a:srgbClr val="A5A5A5"/>
      </a:accent3>
      <a:accent4>
        <a:srgbClr val="ED7D31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otiv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oti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P_prezentace_cz_16x9.potx" id="{193B350C-BD93-44C2-AA23-001E80B1E4DC}" vid="{080CA9D0-FE38-4C67-AC33-3149459E102F}"/>
    </a:ext>
  </a:extLst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212</Words>
  <Application>Microsoft Office PowerPoint</Application>
  <PresentationFormat>Vlastní</PresentationFormat>
  <Paragraphs>40</Paragraphs>
  <Slides>10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3" baseType="lpstr">
      <vt:lpstr>Arial</vt:lpstr>
      <vt:lpstr>Calibri</vt:lpstr>
      <vt:lpstr>Motiv Office</vt:lpstr>
      <vt:lpstr>Prezentace aplikace PowerPoint</vt:lpstr>
      <vt:lpstr>Polybiův čtverec</vt:lpstr>
      <vt:lpstr>Polybiův čtverec</vt:lpstr>
      <vt:lpstr>Co Polybiův čtverec rozvíjí u žáků?</vt:lpstr>
      <vt:lpstr>Cíle vytvořené hry</vt:lpstr>
      <vt:lpstr>Polybiův čtverec - Scratch</vt:lpstr>
      <vt:lpstr>Polybiův čtverec – Scratch použité bloky</vt:lpstr>
      <vt:lpstr>Polybiův čtverec - Python</vt:lpstr>
      <vt:lpstr>Polybiův čtverec - Python</vt:lpstr>
      <vt:lpstr>Závěr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Antonín Drahovzal</dc:creator>
  <cp:lastModifiedBy>Martinakova Lucie</cp:lastModifiedBy>
  <cp:revision>32</cp:revision>
  <dcterms:created xsi:type="dcterms:W3CDTF">2014-09-21T16:29:32Z</dcterms:created>
  <dcterms:modified xsi:type="dcterms:W3CDTF">2025-11-20T10:05:47Z</dcterms:modified>
</cp:coreProperties>
</file>